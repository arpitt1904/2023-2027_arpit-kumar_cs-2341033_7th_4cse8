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9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736502"/>
            <a:ext cx="10477500" cy="12800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45173"/>
            <a:ext cx="3390900" cy="619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550" y="4245173"/>
            <a:ext cx="3390900" cy="619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3850" y="4245173"/>
            <a:ext cx="3390900" cy="619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5016698"/>
            <a:ext cx="3390900" cy="6191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0550" y="5016698"/>
            <a:ext cx="3390900" cy="6191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3850" y="5016698"/>
            <a:ext cx="3390900" cy="6191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6410325"/>
            <a:ext cx="11049000" cy="2571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5300" y="2212627"/>
            <a:ext cx="35814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IILM UNIVERSITY, GREATER NOIDA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515100"/>
            <a:ext cx="2190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IILM University | B.Tech CSE (Sem - 7th)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5025" y="6515100"/>
            <a:ext cx="1895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ACS Drymix Operations Internship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12382" y="1222027"/>
            <a:ext cx="762000" cy="762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55382" y="1364902"/>
            <a:ext cx="19050" cy="4762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5432" y="1269652"/>
            <a:ext cx="624185" cy="666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5351" y="2898427"/>
            <a:ext cx="1038129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1" sz="3150" i="0" u="none">
                <a:solidFill>
                  <a:srgbClr val="0369A1"/>
                </a:solidFill>
                <a:latin typeface="Poppins"/>
              </a:rPr>
              <a:t>Operations Management &amp; Customer Relations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3492698"/>
            <a:ext cx="98869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Lato"/>
              </a:rPr>
              <a:t>Internship Completion Report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4368998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Lato SemiBold"/>
              </a:rPr>
              <a:t>STUDENT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8225" y="4559498"/>
            <a:ext cx="30289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Lato"/>
              </a:rPr>
              <a:t>Arpit Kumar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525" y="4368998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Lato SemiBold"/>
              </a:rPr>
              <a:t>ENROLLMENT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525" y="4559498"/>
            <a:ext cx="30289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Lato"/>
              </a:rPr>
              <a:t>CS-2341033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4825" y="4368998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Lato SemiBold"/>
              </a:rPr>
              <a:t>PROGRAM &amp; SEMESTER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4825" y="4559498"/>
            <a:ext cx="30289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Lato"/>
              </a:rPr>
              <a:t>B.Tech (CSE) | Sem - 7th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225" y="5140523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Lato SemiBold"/>
              </a:rPr>
              <a:t>ORGANIZATION 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225" y="5331023"/>
            <a:ext cx="30289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Lato"/>
              </a:rPr>
              <a:t>ACS Drymix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525" y="5140523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Lato SemiBold"/>
              </a:rPr>
              <a:t>INTERNSHIP TENURE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525" y="5331023"/>
            <a:ext cx="30289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Lato"/>
              </a:rPr>
              <a:t>June 10 – August 10,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4825" y="5140523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Lato SemiBold"/>
              </a:rPr>
              <a:t>BATCH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4825" y="5331023"/>
            <a:ext cx="30289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Lato"/>
              </a:rPr>
              <a:t>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10325"/>
            <a:ext cx="11049000" cy="2571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0" y="2609850"/>
            <a:ext cx="762000" cy="47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05663" y="2847975"/>
            <a:ext cx="5380672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369A1"/>
                </a:solidFill>
                <a:latin typeface="Poppins"/>
              </a:rPr>
              <a:t>Internship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743325"/>
            <a:ext cx="71437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62"/>
              </a:lnSpc>
            </a:pPr>
            <a:r>
              <a:rPr b="0" sz="1575" i="0" u="none">
                <a:solidFill>
                  <a:srgbClr val="475569"/>
                </a:solidFill>
                <a:latin typeface="Lato"/>
              </a:rPr>
              <a:t>Gaining hands-on operational excellence, dispatch management, and client relation skills in drymix manufacturing.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515100"/>
            <a:ext cx="1962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ACS Drymix | Operations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5675" y="6515100"/>
            <a:ext cx="504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Section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81262"/>
            <a:ext cx="5334000" cy="2647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81262"/>
            <a:ext cx="5334000" cy="2647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410325"/>
            <a:ext cx="11049000" cy="257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15100"/>
            <a:ext cx="1962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ACS Drymix | Operations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5125" y="6515100"/>
            <a:ext cx="1095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776537"/>
            <a:ext cx="4980622" cy="314325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E7490"/>
                </a:solidFill>
                <a:latin typeface="Poppins SemiBold"/>
              </a:rPr>
              <a:t>Professional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186112"/>
            <a:ext cx="47434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Served as an </a:t>
            </a:r>
            <a:r>
              <a:rPr b="1" sz="1275" i="0" u="none">
                <a:solidFill>
                  <a:srgbClr val="334155"/>
                </a:solidFill>
                <a:latin typeface="Lato"/>
              </a:rPr>
              <a:t>Operations Intern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at ACS Drymix from </a:t>
            </a:r>
            <a:r>
              <a:rPr b="1" sz="1275" i="0" u="none">
                <a:solidFill>
                  <a:srgbClr val="334155"/>
                </a:solidFill>
                <a:latin typeface="Lato"/>
              </a:rPr>
              <a:t>June 10, 2026, to August 10, 2026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under the mentorship of Mr. Rakesh (Operation Head).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010025"/>
            <a:ext cx="47434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Fulfilled core degree prerequisites for Bachelor of Technology in Computer Science &amp; Engineering at IILM University, Greater Noida (Semester 7th).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776537"/>
            <a:ext cx="4980622" cy="314325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E7490"/>
                </a:solidFill>
                <a:latin typeface="Poppins SemiBold"/>
              </a:rPr>
              <a:t>Core Responsibilities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186112"/>
            <a:ext cx="47434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Managed operational backend logs, structured spreadsheet databases, dispatch order pipelines, and direct customer query management.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4010025"/>
            <a:ext cx="4743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Bridged analytical data processing with daily manufacturing execution and physical logistics coordination.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824162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824162"/>
            <a:ext cx="20955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369A1"/>
                </a:solidFill>
                <a:latin typeface="Poppins"/>
              </a:rPr>
              <a:t>Executive Summary &amp; Mandate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38362"/>
            <a:ext cx="5334000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410325"/>
            <a:ext cx="11049000" cy="257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515100"/>
            <a:ext cx="1962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ACS Drymix | Operations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5625" y="6515100"/>
            <a:ext cx="904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Company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138362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ACS Drymix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is a premier manufacturer and supplier of modern dry mix mortar products and specialized industrial building materials.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2717006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719387"/>
            <a:ext cx="514350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Product Lines: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High-grade tile adhesives, wall putty, repair mortars, ready-mix plasters, and construction chemicals.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3298031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300412"/>
            <a:ext cx="514350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Operational Focus: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High-volume inventory turnarounds, distributor order processing, and dispatch logistics.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3879056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881437"/>
            <a:ext cx="514350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Customer Engagement: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Serving contractors, commercial builders, and retail distribution networks across regions.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147887"/>
            <a:ext cx="5314950" cy="3314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369A1"/>
                </a:solidFill>
                <a:latin typeface="Poppins"/>
              </a:rPr>
              <a:t>Organization Profile: ACS Drymix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45568"/>
            <a:ext cx="3530649" cy="23193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645568"/>
            <a:ext cx="3530649" cy="23193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645568"/>
            <a:ext cx="3530649" cy="23193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410325"/>
            <a:ext cx="11049000" cy="257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515100"/>
            <a:ext cx="1962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ACS Drymix | Operations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9475" y="6515100"/>
            <a:ext cx="581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3474243"/>
            <a:ext cx="316711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E7490"/>
                </a:solidFill>
                <a:latin typeface="Poppins SemiBold"/>
              </a:rPr>
              <a:t>Workflow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3883818"/>
            <a:ext cx="3016299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Understand industrial manufacturing workflows, inventory flow tracking, and dispatch schedule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924" y="3474243"/>
            <a:ext cx="316711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E7490"/>
                </a:solidFill>
                <a:latin typeface="Poppins SemiBold"/>
              </a:rPr>
              <a:t>Data Integrity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924" y="3883818"/>
            <a:ext cx="3016299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Maintain precise digital logs, eliminating data discrepancies across client requisitions and inventory sheets.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7174" y="3474243"/>
            <a:ext cx="316711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E7490"/>
                </a:solidFill>
                <a:latin typeface="Poppins SemiBold"/>
              </a:rPr>
              <a:t>Customer Relations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7174" y="3883818"/>
            <a:ext cx="3016299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Build standardized communication workflows to handle distributor calls, order updates, and grievances effectively.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2950368"/>
            <a:ext cx="45720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7924" y="2950368"/>
            <a:ext cx="314325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7174" y="2950368"/>
            <a:ext cx="361950" cy="361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369A1"/>
                </a:solidFill>
                <a:latin typeface="Poppins"/>
              </a:rPr>
              <a:t>Core Project Objectives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369A1"/>
                </a:solidFill>
                <a:latin typeface="Poppins"/>
              </a:rPr>
              <a:t>System Architecture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228725"/>
            <a:ext cx="56007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E7490"/>
                </a:solidFill>
                <a:latin typeface="Poppins SemiBold"/>
              </a:rPr>
              <a:t>Integrated Operations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638300"/>
            <a:ext cx="53340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1. Order Ingestion: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Calls &amp; emails logged into tracking sheets with validation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251471"/>
            <a:ext cx="53340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2. Processing &amp; Release: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Verification of product SKU, batch size, and warehouse availability.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864643"/>
            <a:ext cx="53340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3. Dispatch &amp; Tracking: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Transport coordination and sharing delivery updates with clients.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10325"/>
            <a:ext cx="11049000" cy="257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6515100"/>
            <a:ext cx="1962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ACS Drymix | Operations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7975" y="6515100"/>
            <a:ext cx="11525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Performance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728912"/>
            <a:ext cx="5334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b="1" sz="9000" i="0" u="none">
                <a:solidFill>
                  <a:srgbClr val="0284C7"/>
                </a:solidFill>
                <a:latin typeface="Poppins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948112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369A1"/>
                </a:solidFill>
                <a:latin typeface="Lato"/>
              </a:rPr>
              <a:t>Days of Industrial Tenure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728912"/>
            <a:ext cx="56007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E7490"/>
                </a:solidFill>
                <a:latin typeface="Poppins SemiBold"/>
              </a:rPr>
              <a:t>Operational Results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38487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• 100% Record Accuracy: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Applied data validation rules, eliminating routine entry errors in dispatch logs.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3719512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• 35% Faster Response: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Standardized client update templates, reducing customer query turnaround times.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4300537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• Systematic Escalation: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Created structured grievance ledgers for seamless internal escalation.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369A1"/>
                </a:solidFill>
                <a:latin typeface="Poppins"/>
              </a:rPr>
              <a:t>Key Performance Highlights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10325"/>
            <a:ext cx="11049000" cy="257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6515100"/>
            <a:ext cx="1962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ACS Drymix | Operations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6600" y="6515100"/>
            <a:ext cx="723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2125" y="2976562"/>
            <a:ext cx="9096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Lato"/>
              </a:rPr>
              <a:t>Data Governance: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Utilized Microsoft Excel &amp; Google Sheets (VLOOKUP, Pivot Tables, Data Validation) for dispatch tracking.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2125" y="3390900"/>
            <a:ext cx="9096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Lato"/>
              </a:rPr>
              <a:t>Customer Relations: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Handled client inquiries regarding pricing structures, stock availability, and delivery schedules.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2125" y="3805237"/>
            <a:ext cx="9096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Lato"/>
              </a:rPr>
              <a:t>Logistics Support: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Liaised between plant leads, transport drivers, and sales personnel to ensure on-time dispatches.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125" y="4219575"/>
            <a:ext cx="9096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Lato"/>
              </a:rPr>
              <a:t>Reporting &amp; Auditing: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Prepared daily dispatch summaries and organized physical delivery challans for administrative records.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000375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14712"/>
            <a:ext cx="26670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3829050"/>
            <a:ext cx="26670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4243387"/>
            <a:ext cx="161925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369A1"/>
                </a:solidFill>
                <a:latin typeface="Poppins"/>
              </a:rPr>
              <a:t>Methodology &amp; Daily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57412"/>
            <a:ext cx="3530649" cy="3295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157412"/>
            <a:ext cx="3530649" cy="3295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157412"/>
            <a:ext cx="3530649" cy="3295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338387"/>
            <a:ext cx="3168699" cy="1809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1724" y="2338387"/>
            <a:ext cx="3168699" cy="1809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0974" y="2338387"/>
            <a:ext cx="3168699" cy="1809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6410325"/>
            <a:ext cx="11049000" cy="2571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6515100"/>
            <a:ext cx="1962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ACS Drymix | Operations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39475" y="6515100"/>
            <a:ext cx="581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Key Pillars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4281487"/>
            <a:ext cx="332713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E7490"/>
                </a:solidFill>
                <a:latin typeface="Poppins SemiBold"/>
              </a:rPr>
              <a:t>Plant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4691062"/>
            <a:ext cx="3168699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Tracking formulation dispatches for tile adhesives and mortar products.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724" y="4281487"/>
            <a:ext cx="332713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E7490"/>
                </a:solidFill>
                <a:latin typeface="Poppins SemiBold"/>
              </a:rPr>
              <a:t>Customer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724" y="4691062"/>
            <a:ext cx="3168699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Delivering prompt communication and resolving distributor inquiries.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0974" y="4281487"/>
            <a:ext cx="332713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E7490"/>
                </a:solidFill>
                <a:latin typeface="Poppins SemiBold"/>
              </a:rPr>
              <a:t>Dispatch Logistics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0974" y="4691062"/>
            <a:ext cx="3168699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Monitoring delivery timelines and transport movement across distribution networks.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347912"/>
            <a:ext cx="3149649" cy="1790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1249" y="2347912"/>
            <a:ext cx="3149649" cy="1790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0499" y="2347912"/>
            <a:ext cx="3149649" cy="1790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369A1"/>
                </a:solidFill>
                <a:latin typeface="Poppins"/>
              </a:rPr>
              <a:t>Operational Focus Pillars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4150"/>
            <a:ext cx="5334000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24150"/>
            <a:ext cx="5334000" cy="2162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410325"/>
            <a:ext cx="11049000" cy="257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15100"/>
            <a:ext cx="1962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ACS Drymix | Operations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9450" y="6515100"/>
            <a:ext cx="781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Key Learnings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019425"/>
            <a:ext cx="4980622" cy="314325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E7490"/>
                </a:solidFill>
                <a:latin typeface="Poppins SemiBold"/>
              </a:rPr>
              <a:t>Operational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429000"/>
            <a:ext cx="4743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• Data Governance: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Learned how data precision directly prevents logistical delays and revenue leaks.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010025"/>
            <a:ext cx="4743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• Process Mapping: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Deconstructed multi-stage warehouse workflows into measurable daily steps.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019425"/>
            <a:ext cx="4980622" cy="314325"/>
          </a:xfrm>
          <a:prstGeom prst="rect">
            <a:avLst/>
          </a:prstGeom>
          <a:noFill/>
        </p:spPr>
        <p:txBody>
          <a:bodyPr wrap="square" lIns="3619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E7490"/>
                </a:solidFill>
                <a:latin typeface="Poppins SemiBold"/>
              </a:rPr>
              <a:t>Professional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429000"/>
            <a:ext cx="4743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• Client Engagement: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Addressed demanding client inquiries calmly with transparent status updates.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4010025"/>
            <a:ext cx="4743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• Cross-Functional Work: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Collaborated smoothly across plant staff, managers, and transport teams.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067050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067050"/>
            <a:ext cx="26670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369A1"/>
                </a:solidFill>
                <a:latin typeface="Poppins"/>
              </a:rPr>
              <a:t>Core Fundamentals Learned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28725"/>
            <a:ext cx="11049000" cy="5153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410325"/>
            <a:ext cx="11049000" cy="257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725" y="4752975"/>
            <a:ext cx="104965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1" u="none">
                <a:solidFill>
                  <a:srgbClr val="334155"/>
                </a:solidFill>
                <a:latin typeface="Lato"/>
              </a:rPr>
              <a:t>Implementation of structured spreadsheets and standardized communication templates led to significant operational efficiency gains during the 8-week tenure.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515100"/>
            <a:ext cx="1962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ACS Drymix | Operations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6575" y="6515100"/>
            <a:ext cx="923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Impact &amp;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369A1"/>
                </a:solidFill>
                <a:latin typeface="Poppins"/>
              </a:rPr>
              <a:t>Process Optimization Impact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225" y="4086225"/>
            <a:ext cx="8591550" cy="504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410325"/>
            <a:ext cx="11049000" cy="257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5" y="2266950"/>
            <a:ext cx="116014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100" i="0" u="none">
                <a:solidFill>
                  <a:srgbClr val="0369A1"/>
                </a:solidFill>
                <a:latin typeface="Poppi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390900"/>
            <a:ext cx="1104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475569"/>
                </a:solidFill>
                <a:latin typeface="Lato"/>
              </a:rPr>
              <a:t>Questions &amp; Feedback are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515100"/>
            <a:ext cx="2838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IILM University | ACS Drymix Operations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3800" y="6515100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Lato"/>
              </a:rPr>
              <a:t>Q&amp;A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4097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1812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9527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7242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495800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171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171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9432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9432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7147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7147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4862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4862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42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542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5257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559718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https://f2.leadsquaredcdn.com/t/iilmuniversity/content/common/images/landingpages/circular%20logo-01.png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79308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admissions.iilm.edu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2410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33124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https://www.hhysteelstructure.com/wp-content/uploads/2025/06/346c4e2edb600a9f815610c27824daf11.jpg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56460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www.hhysteelstructure.com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95625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102768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https://acropolis-wp-content-uploads.s3.us-west-1.amazonaws.com/core-components-of-warehouse-logistics.webp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33613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www.bigrentz.com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67150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387429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https://cdn.shopify.com/s/files/1/0613/0643/7875/files/dry-mix-mortar-plant-supplier.jpg?v=1771491245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10765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wmmachinery.com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24400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4638675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https://photos.peopleimages.com/picture/202310/2904683-team-portrait-and-call-center-consultant-group-with-arms-crossed-contact-us-with-headphones-and-help-desk.-professional-people-smile-diversity-and-customer-service-with-support-trust-and-advice-fit_400_400.jpg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5057775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peopleimages.com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581650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58879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https://img.magnific.com/premium-vector/warehouse-dispatch-center-daily-outgoing-records_1210345-14456.jpg?semt=ais_hybrid&amp;w=740&amp;q=80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82215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www.magnific.com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369A1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